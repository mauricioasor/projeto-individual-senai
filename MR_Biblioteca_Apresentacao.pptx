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029200" cy="50292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657600"/>
            <a:ext cx="2926080" cy="292608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0"/>
            <a:ext cx="731520" cy="6858000"/>
          </a:xfrm>
          <a:prstGeom prst="rect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71600"/>
            <a:ext cx="1051560" cy="10515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65960" y="1417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18CF8"/>
                </a:solidFill>
              </a:rPr>
              <a:t>MR BIBLIOTECA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801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Sistema de Gestao de Biblioteca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Apresentacao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do Projeto</a:t>
            </a:r>
            <a:endParaRPr lang="en-US" sz="6400" dirty="0"/>
          </a:p>
        </p:txBody>
      </p:sp>
      <p:sp>
        <p:nvSpPr>
          <p:cNvPr id="11" name="Shape 9"/>
          <p:cNvSpPr/>
          <p:nvPr/>
        </p:nvSpPr>
        <p:spPr>
          <a:xfrm>
            <a:off x="685800" y="4434840"/>
            <a:ext cx="4572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Mauricio Ventura  -  Turma 1B  -  SENAI  - 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818CF8"/>
                </a:solidFill>
              </a:rPr>
              <a:t>01 - PROBLEMATICA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Qual problema o sistema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busca resolver?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0292" cy="3657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029968"/>
            <a:ext cx="5303520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214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Registros manuais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4688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 controle de emprestimos era feito em papel, sujeito a erros, rasuras e perdas de informacao.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200400"/>
            <a:ext cx="5303520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Falta de rastreabilidade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363931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Era impossivel saber quem estava com qual livro, desde quando, ou se havia atraso na devolucao.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4370832"/>
            <a:ext cx="5303520" cy="9875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4622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 visibilidade gerencial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480974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Nenhum indicador disponivel sobre disponibilidade do acervo, historico de uso ou livros mais procurados.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51206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057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18CF8"/>
                </a:solidFill>
              </a:rPr>
              <a:t>A dor real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606040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366F1"/>
                </a:solidFill>
              </a:rPr>
              <a:t>100%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766560" y="3355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do controle era feito manualmente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3867912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366F1"/>
                </a:solidFill>
              </a:rPr>
              <a:t>0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76656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relatorios ou indicadores disponiveis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512978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366F1"/>
                </a:solidFill>
              </a:rPr>
              <a:t>?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766560" y="5879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risco de perda de dados historicos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818CF8"/>
                </a:solidFill>
              </a:rPr>
              <a:t>02 - SOLUCAO PROPOSTA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Como o sistema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pretende solucionar?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4406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011680"/>
            <a:ext cx="544068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212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Cadastro de Livros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Registro completo do acervo: titulo, autor, ISBN, categoria, ano e quantidade de exemplares disponiveis.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54406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2011680"/>
            <a:ext cx="544068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611112" y="2212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Gestao de Usuarios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11112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Controle de perfis com diferenciacao entre usuario comum e administrador, alem de historico individual.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54406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297680"/>
            <a:ext cx="544068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498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Controle de Emprestimos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" y="4937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Registro de data de saida, prazo de devolucao e status em tempo real (ativo, atrasado, devolvido).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4297680"/>
            <a:ext cx="544068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4297680"/>
            <a:ext cx="544068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4498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Dashboard com KPIs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1112" y="4937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Painel visual com indicadores: livros disponiveis, emprestimos ativos, atrasos e taxa de disponibilidade.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818CF8"/>
                </a:solidFill>
              </a:rPr>
              <a:t>03 - TECNOLOGIAS UTILIZADAS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Stack do Projeto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Engenharia de Requisitos e Modelagem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029968"/>
            <a:ext cx="53949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214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draw.io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Diagrama de Casos de Uso - modelagem dos atores e casos de uso do sistema.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3035808"/>
            <a:ext cx="53949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272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drawSQL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Diagrama de Entidade e Relacionamento (DER) - estrutura do banco de dados.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Banco de Dados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498848"/>
            <a:ext cx="53949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590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MySQL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Banco relacional com 5 entidades: USUARIO, LIVRO, EMPRESTIMO, AUTOR e CATEGORIA.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22860" cy="4937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6002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Desenvolvimento (Front-End)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2029968"/>
            <a:ext cx="53035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029968"/>
            <a:ext cx="64008" cy="749808"/>
          </a:xfrm>
          <a:prstGeom prst="rect">
            <a:avLst/>
          </a:prstGeom>
          <a:solidFill>
            <a:srgbClr val="E34C2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1214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HTML5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2450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Estrutura e semantica das paginas.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2962656"/>
            <a:ext cx="53035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962656"/>
            <a:ext cx="64008" cy="749808"/>
          </a:xfrm>
          <a:prstGeom prst="rect">
            <a:avLst/>
          </a:prstGeom>
          <a:solidFill>
            <a:srgbClr val="264DE4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0540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CSS3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3383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Estilizacao, variaveis de design e responsividade.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3895344"/>
            <a:ext cx="53035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3895344"/>
            <a:ext cx="64008" cy="74980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9867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3159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Interatividade e logica de interface.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4828032"/>
            <a:ext cx="53035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828032"/>
            <a:ext cx="64008" cy="749808"/>
          </a:xfrm>
          <a:prstGeom prst="rect">
            <a:avLst/>
          </a:prstGeom>
          <a:solidFill>
            <a:srgbClr val="7952B3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9194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Bootstrap 5.3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52486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Framework CSS para layout, grid e componentes.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46520" y="5760720"/>
            <a:ext cx="53035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760720"/>
            <a:ext cx="64008" cy="749808"/>
          </a:xfrm>
          <a:prstGeom prst="rect">
            <a:avLst/>
          </a:prstGeom>
          <a:solidFill>
            <a:srgbClr val="7952B3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58521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Bootstrap Icons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75120" y="6181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Biblioteca de icones vetoriais integrada ao Bootstrap.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818CF8"/>
                </a:solidFill>
              </a:rPr>
              <a:t>04 - CASOS DE USO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Principais interacoes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 sistema</a:t>
            </a:r>
            <a:endParaRPr lang="en-US" sz="3600" dirty="0"/>
          </a:p>
        </p:txBody>
      </p:sp>
      <p:pic>
        <p:nvPicPr>
          <p:cNvPr id="4" name="Image 0" descr="/sessions/zen-modest-goldberg/mnt/biblioteca-senai-1b-2026/diagramacasosdeu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920240"/>
            <a:ext cx="566928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19202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Atores do sistema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309360" y="2359152"/>
            <a:ext cx="539496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24505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User (Aluno / Funcionario)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10528" y="2834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Cadastrar-se - Realizar login - Pesquisar livros - Fazer emprestimo - Devolver livro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3749040"/>
            <a:ext cx="539496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0528" y="3840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Admin (Bibliotecario)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10528" y="42245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Gerenciar livros - Gerenciar usuarios - Notificar atrasados - Visualizar relatorios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09360" y="5212080"/>
            <a:ext cx="5394960" cy="1417320"/>
          </a:xfrm>
          <a:prstGeom prst="rect">
            <a:avLst/>
          </a:prstGeom>
          <a:solidFill>
            <a:srgbClr val="24314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0528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</a:rPr>
              <a:t>Relacoes entre casos de uso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510528" y="5669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include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Fazer emprestimo inclui Verificar disponibilidade e Notificar usuario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extend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Devolver livro pode estender para Pagar multa por atraso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818CF8"/>
                </a:solidFill>
              </a:rPr>
              <a:t>05 - DIAGRAMA DE ENTIDADE E RELACIONAMENTOS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Estrutura do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Banco de Dados</a:t>
            </a:r>
            <a:endParaRPr lang="en-US" sz="3600" dirty="0"/>
          </a:p>
        </p:txBody>
      </p:sp>
      <p:pic>
        <p:nvPicPr>
          <p:cNvPr id="4" name="Image 0" descr="/sessions/zen-modest-goldberg/mnt/biblioteca-senai-1b-2026/diagrama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920240"/>
            <a:ext cx="71323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920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</a:rPr>
              <a:t>Entidades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0" y="2359152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73568" y="24323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USUARIO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73568" y="27614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 - nome - email - senha - tipo_perfil - data_cadastro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0" y="3273552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73568" y="33467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LIVRO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73568" y="36758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 - titulo - isbn - ano - qtd_total - qtd_disponivel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72400" y="4187952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73568" y="42611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EMPRESTIMO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73568" y="4590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 - data_emprestimo - data_prev_dev - data_devolucao - status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772400" y="5102352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73568" y="51755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73568" y="55046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 - nome_autor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772400" y="6016752"/>
            <a:ext cx="4023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73568" y="60899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CATEGORIA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73568" y="64190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 - nome_categoria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818CF8"/>
                </a:solidFill>
              </a:rPr>
              <a:t>06 - PROTOTIPACAO &gt; TELA 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Tela de Login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Ponto de entrada. O usuario informa credenciais para acessar o painel com controle de perfil (Admin ou Usuario).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4231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Campo de e-mail e senha com validacao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953512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86207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Botao de acesso centralizado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392424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3009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Redirecionamento por perfil de usuario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831336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73989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Design minimalista e responsivo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709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index.html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74320"/>
            <a:ext cx="5577840" cy="6309360"/>
          </a:xfrm>
          <a:prstGeom prst="rect">
            <a:avLst/>
          </a:prstGeom>
          <a:solidFill>
            <a:srgbClr val="0A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74320"/>
            <a:ext cx="5577840" cy="219456"/>
          </a:xfrm>
          <a:prstGeom prst="rect">
            <a:avLst/>
          </a:prstGeom>
          <a:solidFill>
            <a:srgbClr val="060A12"/>
          </a:solidFill>
          <a:ln/>
        </p:spPr>
      </p:sp>
      <p:sp>
        <p:nvSpPr>
          <p:cNvPr id="16" name="Shape 14"/>
          <p:cNvSpPr/>
          <p:nvPr/>
        </p:nvSpPr>
        <p:spPr>
          <a:xfrm>
            <a:off x="6336792" y="32004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3200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739128" y="32004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493776"/>
            <a:ext cx="5577840" cy="608990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0"/>
            <a:ext cx="1828800" cy="18288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4389120"/>
            <a:ext cx="2286000" cy="22860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178040" y="1234440"/>
            <a:ext cx="3657600" cy="5029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0" y="1508760"/>
            <a:ext cx="804672" cy="80467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150876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60920" y="24048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MR Biblioteca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60920" y="27340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Sistema de gestao de bibliotecas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79208" y="32004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E-mail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79208" y="3410712"/>
            <a:ext cx="3255264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4198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seu@email.com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79208" y="3886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Senha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379208" y="4096512"/>
            <a:ext cx="3255264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410565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**********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79208" y="4636008"/>
            <a:ext cx="3255264" cy="40233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7379208" y="4636008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79208" y="516636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</a:rPr>
              <a:t>Esqueci minha senha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818CF8"/>
                </a:solidFill>
              </a:rPr>
              <a:t>06 - PROTOTIPACAO &gt; TELA 02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Dashboard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Painel principal com KPIs em tempo real sobre acervo, usuarios e emprestimos ativos.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1887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95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127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Livros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37944" y="2331720"/>
            <a:ext cx="11887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2395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84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37944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Usuarios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2331720"/>
            <a:ext cx="11887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2395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45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72968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Emprestimos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07992" y="2331720"/>
            <a:ext cx="11887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39572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82%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07992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Disponivel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675888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56616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Emprestimos recentes (ultimos 7 dias)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133088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02336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Livros mais emprestados do acervo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590288"/>
            <a:ext cx="201168" cy="20116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480560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Alertas de atrasos e acoes rapidas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5212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dashboard.html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74320"/>
            <a:ext cx="5577840" cy="6309360"/>
          </a:xfrm>
          <a:prstGeom prst="rect">
            <a:avLst/>
          </a:prstGeom>
          <a:solidFill>
            <a:srgbClr val="0A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74320"/>
            <a:ext cx="5577840" cy="219456"/>
          </a:xfrm>
          <a:prstGeom prst="rect">
            <a:avLst/>
          </a:prstGeom>
          <a:solidFill>
            <a:srgbClr val="060A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336792" y="32004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537960" y="3200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6739128" y="32004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493776"/>
            <a:ext cx="1143000" cy="608990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0" name="Shape 28"/>
          <p:cNvSpPr/>
          <p:nvPr/>
        </p:nvSpPr>
        <p:spPr>
          <a:xfrm>
            <a:off x="6373368" y="621792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621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1408176"/>
            <a:ext cx="1143000" cy="512064"/>
          </a:xfrm>
          <a:prstGeom prst="rect">
            <a:avLst/>
          </a:prstGeom>
          <a:solidFill>
            <a:srgbClr val="6366F1">
              <a:alpha val="2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1408176"/>
            <a:ext cx="54864" cy="5120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151790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9360" y="229514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Catalogo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307238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Emprestimos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384962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Usuarios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60920" y="493776"/>
            <a:ext cx="4434840" cy="6089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7360920" y="493776"/>
            <a:ext cx="4434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7224" y="5394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Ola, Mauricio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07224" y="78638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Resumo da biblioteca - 5 de Maio de 2026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52360" y="1078992"/>
            <a:ext cx="9784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52360" y="1078992"/>
            <a:ext cx="978408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7452360" y="1152144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</a:rPr>
              <a:t>127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7498080" y="16459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Total Livros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22208" y="1078992"/>
            <a:ext cx="9784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22208" y="1078992"/>
            <a:ext cx="97840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8522208" y="1152144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84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8567928" y="16459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Usuarios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592056" y="1078992"/>
            <a:ext cx="9784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92056" y="1078992"/>
            <a:ext cx="97840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9592056" y="1152144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45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9637776" y="16459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Emprestimos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661904" y="1078992"/>
            <a:ext cx="9784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61904" y="1078992"/>
            <a:ext cx="978408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6" name="Text 54"/>
          <p:cNvSpPr/>
          <p:nvPr/>
        </p:nvSpPr>
        <p:spPr>
          <a:xfrm>
            <a:off x="10661904" y="1152144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82%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10707624" y="164592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Disponivel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52360" y="2157984"/>
            <a:ext cx="2075688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43800" y="226771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Emprestimos recentes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543800" y="254203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Ultimos 7 dias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525512" y="2916936"/>
            <a:ext cx="384048" cy="384048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7525512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982712" y="2898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Cristopher S.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982712" y="3227832"/>
            <a:ext cx="749808" cy="219456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7982712" y="32186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Ativo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525512" y="3794760"/>
            <a:ext cx="384048" cy="384048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52551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GZ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982712" y="3776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Gustavo Z.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982712" y="4105656"/>
            <a:ext cx="749808" cy="219456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7982712" y="409651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Ativo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525512" y="4672584"/>
            <a:ext cx="384048" cy="384048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7525512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EJ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982712" y="4654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Enzo Jr.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982712" y="4983480"/>
            <a:ext cx="749808" cy="219456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7982712" y="497433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Atrasado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525512" y="5550408"/>
            <a:ext cx="384048" cy="384048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525512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982712" y="5532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Ana Carolina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982712" y="5861304"/>
            <a:ext cx="749808" cy="219456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7982712" y="585216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Devolvido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628632" y="2157984"/>
            <a:ext cx="2075688" cy="4187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720072" y="226771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Mais emprestados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701784" y="2660904"/>
            <a:ext cx="365760" cy="640080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9701784" y="266090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1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10140696" y="275234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Procrastinando com eficiencia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701784" y="3575304"/>
            <a:ext cx="365760" cy="640080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9701784" y="357530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2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10140696" y="366674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Seja Dev s/ saber programar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701784" y="4489704"/>
            <a:ext cx="365760" cy="640080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9701784" y="448970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3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10140696" y="458114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Como farmar aura em 2026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701784" y="5404104"/>
            <a:ext cx="365760" cy="640080"/>
          </a:xfrm>
          <a:prstGeom prst="rect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9701784" y="540410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4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10140696" y="549554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Formacao falta zero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818CF8"/>
                </a:solidFill>
              </a:rPr>
              <a:t>06 - PROTOTIPACAO &gt; TELA 03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Catalogo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Acervo completo com busca, filtros por categoria, status e ano de publicacao.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Busca por titulo, autor ou ISBN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944368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5292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Filtros: categoria, status, ano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419856"/>
            <a:ext cx="219456" cy="21945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2841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127 titulos · 412 exemplares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5212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catalogo.html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"/>
            <a:ext cx="5577840" cy="6309360"/>
          </a:xfrm>
          <a:prstGeom prst="rect">
            <a:avLst/>
          </a:prstGeom>
          <a:solidFill>
            <a:srgbClr val="0A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74320"/>
            <a:ext cx="5577840" cy="219456"/>
          </a:xfrm>
          <a:prstGeom prst="rect">
            <a:avLst/>
          </a:prstGeom>
          <a:solidFill>
            <a:srgbClr val="060A1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36792" y="32004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3200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39128" y="32004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493776"/>
            <a:ext cx="1143000" cy="608990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73368" y="621792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621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51790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2185416"/>
            <a:ext cx="1143000" cy="512064"/>
          </a:xfrm>
          <a:prstGeom prst="rect">
            <a:avLst/>
          </a:prstGeom>
          <a:solidFill>
            <a:srgbClr val="6366F1">
              <a:alpha val="2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2185416"/>
            <a:ext cx="54864" cy="5120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29514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Catalogo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307238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Emprestimos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384962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Usuarios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60920" y="493776"/>
            <a:ext cx="4434840" cy="6089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360920" y="493776"/>
            <a:ext cx="4434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07224" y="5394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Catalogo de Livros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07224" y="78638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127 titulos · 412 exemplares no acervo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52360" y="1170432"/>
            <a:ext cx="4251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11795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🔍  Busca por titulo, autor ou ISBN...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98280" y="1216152"/>
            <a:ext cx="73152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1216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Categoria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921240" y="1216152"/>
            <a:ext cx="73152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21240" y="1216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</a:rPr>
              <a:t>Status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744200" y="1216152"/>
            <a:ext cx="914400" cy="3108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44200" y="12161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 Novo livro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52360" y="1700784"/>
            <a:ext cx="4251960" cy="32918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7488936" y="173736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Livro / Autor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089136" y="17373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ISBN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140696" y="1737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Categoria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945368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Exempl.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567160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Status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452360" y="2029968"/>
            <a:ext cx="4251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88936" y="20665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Procrastinando c/ eficiencia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88936" y="23042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Carlos M. Andrade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089136" y="2157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978-85-02-00054-9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140696" y="2148840"/>
            <a:ext cx="6400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0696" y="21488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AutoAjuda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945368" y="2157984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3/3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567160" y="2148840"/>
            <a:ext cx="512064" cy="237744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567160" y="214884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Disponivel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52360" y="2523744"/>
            <a:ext cx="4251960" cy="49377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88936" y="25603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Seja Dev s/ saber programar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88936" y="27980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Julia Reis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089136" y="2651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978-85-02-00077-8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140696" y="2642616"/>
            <a:ext cx="6400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40696" y="26426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Tecnologia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945368" y="2651760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4/12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1567160" y="2642616"/>
            <a:ext cx="512064" cy="237744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567160" y="264261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Disponivel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452360" y="3017520"/>
            <a:ext cx="42519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88936" y="30540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Como farmar aura em 2026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488936" y="3291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Enzo Junior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9089136" y="3145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978-85-02-00121-4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140696" y="3136392"/>
            <a:ext cx="6400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140696" y="31363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Fantasia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945368" y="3145536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3/3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1567160" y="3136392"/>
            <a:ext cx="512064" cy="237744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567160" y="31363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Disponivel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452360" y="3511296"/>
            <a:ext cx="4251960" cy="49377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88936" y="35478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Nao foi so pelo diploma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488936" y="37856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Lia Cardoso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089136" y="3639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978-85-02-00098-3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0140696" y="3630168"/>
            <a:ext cx="6400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140696" y="36301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Historia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945368" y="3639312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0/9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1567160" y="3630168"/>
            <a:ext cx="512064" cy="237744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567160" y="363016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Indisponivel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818CF8"/>
                </a:solidFill>
              </a:rPr>
              <a:t>06 - PROTOTIPACAO &gt; TELA 04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Emprestimos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Gestao completa de emprestimos com controle de prazos e alertas de atraso.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45 emprestimos ativos monitorados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898648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0720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12 atrasados com alerta visual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374136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8269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Tabs: Todos / Ativos / Atrasados / Devolvidos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5212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emprestimos.html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"/>
            <a:ext cx="5577840" cy="6309360"/>
          </a:xfrm>
          <a:prstGeom prst="rect">
            <a:avLst/>
          </a:prstGeom>
          <a:solidFill>
            <a:srgbClr val="0A0F1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74320"/>
            <a:ext cx="5577840" cy="219456"/>
          </a:xfrm>
          <a:prstGeom prst="rect">
            <a:avLst/>
          </a:prstGeom>
          <a:solidFill>
            <a:srgbClr val="060A12"/>
          </a:solidFill>
          <a:ln/>
        </p:spPr>
      </p:sp>
      <p:sp>
        <p:nvSpPr>
          <p:cNvPr id="14" name="Shape 12"/>
          <p:cNvSpPr/>
          <p:nvPr/>
        </p:nvSpPr>
        <p:spPr>
          <a:xfrm>
            <a:off x="6336792" y="320040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3200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39128" y="320040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493776"/>
            <a:ext cx="1143000" cy="608990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73368" y="621792"/>
            <a:ext cx="512064" cy="51206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6217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151790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29514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Catalogo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2962656"/>
            <a:ext cx="1143000" cy="512064"/>
          </a:xfrm>
          <a:prstGeom prst="rect">
            <a:avLst/>
          </a:prstGeom>
          <a:solidFill>
            <a:srgbClr val="6366F1">
              <a:alpha val="2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2962656"/>
            <a:ext cx="54864" cy="5120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07238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Emprestimos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384962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Usuarios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60920" y="493776"/>
            <a:ext cx="4434840" cy="60899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360920" y="493776"/>
            <a:ext cx="4434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07224" y="5394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Emprestimos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07224" y="78638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Gestao de emprestimos ativos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52360" y="1170432"/>
            <a:ext cx="425196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11795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⚠  12 emprestimos com prazo vencido — acao necessaria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52360" y="1664208"/>
            <a:ext cx="106299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1664208"/>
            <a:ext cx="1062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Todos (45)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15350" y="1664208"/>
            <a:ext cx="106299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15350" y="1664208"/>
            <a:ext cx="1062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Ativos (28)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578340" y="1664208"/>
            <a:ext cx="106299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78340" y="1664208"/>
            <a:ext cx="1062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Atrasados (12)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641330" y="1664208"/>
            <a:ext cx="106299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41330" y="1664208"/>
            <a:ext cx="1062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Devolvidos (5)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52360" y="2121408"/>
            <a:ext cx="425196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7488936" y="2157984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Usuario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860536" y="2157984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Livro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049256" y="215798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Prazo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872216" y="215798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4151"/>
                </a:solidFill>
              </a:rPr>
              <a:t>Status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52360" y="2432304"/>
            <a:ext cx="4251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88936" y="2871216"/>
            <a:ext cx="365760" cy="365760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488936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VB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927848" y="283464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Vinicius Baggio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860536" y="2871216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Formacao falta Zero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049256" y="290779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29/04/2026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872216" y="2889504"/>
            <a:ext cx="768096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72216" y="288950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Atrasado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52360" y="3730752"/>
            <a:ext cx="4251960" cy="12984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88936" y="4169664"/>
            <a:ext cx="365760" cy="365760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7488936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927848" y="41330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Gustavo Esteves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860536" y="416966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Nao foi so pelo diploma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049256" y="420624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29/04/2026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872216" y="4187952"/>
            <a:ext cx="768096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872216" y="418795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Atrasado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52360" y="5029200"/>
            <a:ext cx="4251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88936" y="5468112"/>
            <a:ext cx="365760" cy="365760"/>
          </a:xfrm>
          <a:prstGeom prst="ellipse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488936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927848" y="54315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Cristopher Silva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860536" y="546811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Procrastinando c/ eficiencia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049256" y="550468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03/05/2026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872216" y="5486400"/>
            <a:ext cx="768096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872216" y="548640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Ativo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4572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74320"/>
            <a:ext cx="1280160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743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MR Biblioteca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Obrigado!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Transformando a gestao de bibliotecas com tecnologia.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401568"/>
            <a:ext cx="22860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639312"/>
            <a:ext cx="4572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Mauricio Ventura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41513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</a:rPr>
              <a:t>mauricio.ventura@multipedidos.com.br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4526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SENAI — Turma 1B ·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5394960"/>
            <a:ext cx="82296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53949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HTML5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27048" y="5394960"/>
            <a:ext cx="82296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7048" y="53949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CSS3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59736" y="5394960"/>
            <a:ext cx="82296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9736" y="53949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JavaScript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92424" y="5394960"/>
            <a:ext cx="82296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2424" y="53949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Bootstrap 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25112" y="5394960"/>
            <a:ext cx="822960" cy="31089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53949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MySQL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309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 Biblioteca</dc:title>
  <dc:subject>PptxGenJS Presentation</dc:subject>
  <dc:creator>Mauricio Ventura</dc:creator>
  <cp:lastModifiedBy>Mauricio Ventura</cp:lastModifiedBy>
  <cp:revision>1</cp:revision>
  <dcterms:created xsi:type="dcterms:W3CDTF">2026-05-24T19:00:17Z</dcterms:created>
  <dcterms:modified xsi:type="dcterms:W3CDTF">2026-05-24T19:00:17Z</dcterms:modified>
</cp:coreProperties>
</file>